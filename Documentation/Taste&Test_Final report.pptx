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D1D1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D1D1D"/>
                </a:solidFill>
                <a:latin typeface="Arial"/>
              </a:rPr>
              <a:t>176 Cases Executed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Cases</c:v>
                </c:pt>
              </c:strCache>
            </c:strRef>
          </c:tx>
          <c:spPr>
            <a:solidFill>
              <a:srgbClr val="2BA3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1D1D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A36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3B3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Passed</c:v>
                  </c:pt>
                  <c:pt idx="1">
                    <c:v>Failed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127</c:v>
                </c:pt>
                <c:pt idx="1">
                  <c:v>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D1D1D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1D1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D1D1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D1D1D"/>
                </a:solidFill>
                <a:latin typeface="Arial"/>
              </a:rPr>
              <a:t>90 Cases · 22 Tables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Cases</c:v>
                </c:pt>
              </c:strCache>
            </c:strRef>
          </c:tx>
          <c:spPr>
            <a:solidFill>
              <a:srgbClr val="2BA3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1D1D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A36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3B3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Passed</c:v>
                  </c:pt>
                  <c:pt idx="1">
                    <c:v>Bugs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</c:v>
                </c:pt>
                <c:pt idx="1">
                  <c:v>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D1D1D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1D1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Passed</c:v>
                </c:pt>
              </c:strCache>
            </c:strRef>
          </c:tx>
          <c:spPr>
            <a:solidFill>
              <a:srgbClr val="2BA3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1D1D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Manual (176)</c:v>
                  </c:pt>
                  <c:pt idx="1">
                    <c:v>Database (90)</c:v>
                  </c:pt>
                  <c:pt idx="2">
                    <c:v>API (232)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127</c:v>
                </c:pt>
                <c:pt idx="1">
                  <c:v>67</c:v>
                </c:pt>
                <c:pt idx="2">
                  <c:v>193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Failed / Bugs</c:v>
                </c:pt>
              </c:strCache>
            </c:strRef>
          </c:tx>
          <c:spPr>
            <a:solidFill>
              <a:srgbClr val="D93B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1D1D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Manual (176)</c:v>
                  </c:pt>
                  <c:pt idx="1">
                    <c:v>Database (90)</c:v>
                  </c:pt>
                  <c:pt idx="2">
                    <c:v>API (232)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49</c:v>
                </c:pt>
                <c:pt idx="1">
                  <c:v>23</c:v>
                </c:pt>
                <c:pt idx="2">
                  <c:v>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D1D1D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1D1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E7278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D9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MCIT · DIGITAL EGYPT PIONEERS INITIATIVE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6675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Taste</a:t>
            </a:r>
            <a:endParaRPr lang="en-US" sz="8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Test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B7B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Testing Graduation Project, built for a food-delivery ecosystem across four independent QA layers.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52360" y="1051560"/>
            <a:ext cx="4160520" cy="3749040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6" name="Shape 4"/>
          <p:cNvSpPr/>
          <p:nvPr/>
        </p:nvSpPr>
        <p:spPr>
          <a:xfrm>
            <a:off x="7653528" y="1216152"/>
            <a:ext cx="100584" cy="100584"/>
          </a:xfrm>
          <a:prstGeom prst="ellipse">
            <a:avLst/>
          </a:prstGeom>
          <a:solidFill>
            <a:srgbClr val="D93B3B"/>
          </a:solidFill>
          <a:ln/>
        </p:spPr>
      </p:sp>
      <p:sp>
        <p:nvSpPr>
          <p:cNvPr id="7" name="Shape 5"/>
          <p:cNvSpPr/>
          <p:nvPr/>
        </p:nvSpPr>
        <p:spPr>
          <a:xfrm>
            <a:off x="7872984" y="1216152"/>
            <a:ext cx="100584" cy="100584"/>
          </a:xfrm>
          <a:prstGeom prst="ellipse">
            <a:avLst/>
          </a:prstGeom>
          <a:solidFill>
            <a:srgbClr val="D9A61F"/>
          </a:solidFill>
          <a:ln/>
        </p:spPr>
      </p:sp>
      <p:sp>
        <p:nvSpPr>
          <p:cNvPr id="8" name="Shape 6"/>
          <p:cNvSpPr/>
          <p:nvPr/>
        </p:nvSpPr>
        <p:spPr>
          <a:xfrm>
            <a:off x="8092440" y="1216152"/>
            <a:ext cx="100584" cy="100584"/>
          </a:xfrm>
          <a:prstGeom prst="ellipse">
            <a:avLst/>
          </a:prstGeom>
          <a:solidFill>
            <a:srgbClr val="2BA36A"/>
          </a:solidFill>
          <a:ln/>
        </p:spPr>
      </p:sp>
      <p:sp>
        <p:nvSpPr>
          <p:cNvPr id="9" name="Text 7"/>
          <p:cNvSpPr/>
          <p:nvPr/>
        </p:nvSpPr>
        <p:spPr>
          <a:xfrm>
            <a:off x="7726680" y="15087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project --status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26680" y="182880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F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       Taste &amp; Test (6 QA engineers)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26680" y="221284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F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     DEPI — Ministry of Comm. &amp; IT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26680" y="259689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F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sprints     4 / 4 complete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26680" y="298094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F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      manual · database · api · automation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26680" y="343814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F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cases_run   498 (manual + database + API, confirmed)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26680" y="382219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F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defects     106 logged, triaged by severity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26680" y="42062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B8D9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status: READY FOR DEFENSE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6291072"/>
            <a:ext cx="11091672" cy="0"/>
          </a:xfrm>
          <a:prstGeom prst="line">
            <a:avLst/>
          </a:prstGeom>
          <a:noFill/>
          <a:ln w="9525">
            <a:solidFill>
              <a:srgbClr val="DCDE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TASTE &amp; TEST — DEPI QA PORTFOLIO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18001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01/11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[ 02 ] — THE 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20" kern="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Roster &amp; Responsibilities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engineers, four disciplines each. Zahraa carried sprint coordination and defect triage on top of hands-on testing.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1091672" cy="0"/>
          </a:xfrm>
          <a:prstGeom prst="line">
            <a:avLst/>
          </a:prstGeom>
          <a:noFill/>
          <a:ln w="15875">
            <a:solidFill>
              <a:srgbClr val="1D1D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9514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2295144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Zahraa Elabd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229514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Leader / Test Lead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295144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coordination, deliverable review, defect triage, reporting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62072"/>
            <a:ext cx="11091672" cy="0"/>
          </a:xfrm>
          <a:prstGeom prst="line">
            <a:avLst/>
          </a:prstGeom>
          <a:noFill/>
          <a:ln w="9525">
            <a:solidFill>
              <a:srgbClr val="DCDE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1693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916936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 Gamal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91693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QA Engineer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2916936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· API · Database · Automation testing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83864"/>
            <a:ext cx="11091672" cy="0"/>
          </a:xfrm>
          <a:prstGeom prst="line">
            <a:avLst/>
          </a:prstGeom>
          <a:noFill/>
          <a:ln w="9525">
            <a:solidFill>
              <a:srgbClr val="DCDE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3872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353872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Saifallah Basem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353872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QA Engineer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3538728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· API · Database · Automation testing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05656"/>
            <a:ext cx="11091672" cy="0"/>
          </a:xfrm>
          <a:prstGeom prst="line">
            <a:avLst/>
          </a:prstGeom>
          <a:noFill/>
          <a:ln w="9525">
            <a:solidFill>
              <a:srgbClr val="DCDE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16052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416052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Mariam Waleed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0" y="416052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QA Engineer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416052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· API · Database · Automation testing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727448"/>
            <a:ext cx="11091672" cy="0"/>
          </a:xfrm>
          <a:prstGeom prst="line">
            <a:avLst/>
          </a:prstGeom>
          <a:noFill/>
          <a:ln w="9525">
            <a:solidFill>
              <a:srgbClr val="DCDE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7823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4782312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Habeeba Sameh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57600" y="478231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QA Engineer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0" y="4782312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· API · Database · Automation testing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349240"/>
            <a:ext cx="11091672" cy="0"/>
          </a:xfrm>
          <a:prstGeom prst="line">
            <a:avLst/>
          </a:prstGeom>
          <a:noFill/>
          <a:ln w="9525">
            <a:solidFill>
              <a:srgbClr val="DCDE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404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43000" y="5404104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 Bassem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657600" y="540410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QA Engineer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0" y="5404104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· API · Database · Automation testing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971032"/>
            <a:ext cx="11091672" cy="0"/>
          </a:xfrm>
          <a:prstGeom prst="line">
            <a:avLst/>
          </a:prstGeom>
          <a:noFill/>
          <a:ln w="9525">
            <a:solidFill>
              <a:srgbClr val="DCDE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6291072"/>
            <a:ext cx="11091672" cy="0"/>
          </a:xfrm>
          <a:prstGeom prst="line">
            <a:avLst/>
          </a:prstGeom>
          <a:noFill/>
          <a:ln w="9525">
            <a:solidFill>
              <a:srgbClr val="DCDE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TASTE &amp; TEST — DEPI QA PORTFOLIO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18001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02/11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[ 03 ] —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20" kern="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Under Test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fictional food-delivery product, tested at three separate layers.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+ AUTOMATION TARGET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LambdaTest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Playground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3520440" cy="0"/>
          </a:xfrm>
          <a:prstGeom prst="line">
            <a:avLst/>
          </a:prstGeom>
          <a:noFill/>
          <a:ln w="19050">
            <a:solidFill>
              <a:srgbClr val="1D1D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88620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storefront — manual exploratory + scripted UI testing, mirrored by the Selenium regression suite.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0" y="23317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TARGET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0" y="26517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DummyJSON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297680" y="3749040"/>
            <a:ext cx="3520440" cy="0"/>
          </a:xfrm>
          <a:prstGeom prst="line">
            <a:avLst/>
          </a:prstGeom>
          <a:noFill/>
          <a:ln w="19050">
            <a:solidFill>
              <a:srgbClr val="1D1D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388620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REST sandbox validated through Postman collections — requests, responses, status codes.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23317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 TARGET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046720" y="26517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food_app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Schema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046720" y="3749040"/>
            <a:ext cx="3520440" cy="0"/>
          </a:xfrm>
          <a:prstGeom prst="line">
            <a:avLst/>
          </a:prstGeom>
          <a:noFill/>
          <a:ln w="19050">
            <a:solidFill>
              <a:srgbClr val="1D1D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388620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22-table custom schema, AI-generated and hand-seeded with edge cases, for constraint and integrity testing.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6291072"/>
            <a:ext cx="11091672" cy="0"/>
          </a:xfrm>
          <a:prstGeom prst="line">
            <a:avLst/>
          </a:prstGeom>
          <a:noFill/>
          <a:ln w="9525">
            <a:solidFill>
              <a:srgbClr val="DCDE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TASTE &amp; TEST — DEPI QA PORTFOLIO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18001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03/11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[ 04 ] — METHOD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20" kern="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Sprints, One Rail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Scrum cadence — planning, daily standups, and a retrospective closing every sprint.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10332720" cy="0"/>
          </a:xfrm>
          <a:prstGeom prst="line">
            <a:avLst/>
          </a:prstGeom>
          <a:noFill/>
          <a:ln w="25400">
            <a:solidFill>
              <a:srgbClr val="DCDE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28216" y="3557016"/>
            <a:ext cx="201168" cy="201168"/>
          </a:xfrm>
          <a:prstGeom prst="ellipse">
            <a:avLst/>
          </a:prstGeom>
          <a:solidFill>
            <a:srgbClr val="B8D915"/>
          </a:solidFill>
          <a:ln w="19050">
            <a:solidFill>
              <a:srgbClr val="1D1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&amp; Strategy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9992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Plan, Roadmap, entry/exit criteria, roles, tool setup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0" y="3557016"/>
            <a:ext cx="201168" cy="201168"/>
          </a:xfrm>
          <a:prstGeom prst="ellipse">
            <a:avLst/>
          </a:prstGeom>
          <a:solidFill>
            <a:srgbClr val="B8D915"/>
          </a:solidFill>
          <a:ln w="19050">
            <a:solidFill>
              <a:srgbClr val="1D1D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3864" y="3913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83864" y="42428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&amp; Exploratory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83864" y="47731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 test cases authored &amp; executed on the LambdaTest storefront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415784" y="3557016"/>
            <a:ext cx="201168" cy="201168"/>
          </a:xfrm>
          <a:prstGeom prst="ellipse">
            <a:avLst/>
          </a:prstGeom>
          <a:solidFill>
            <a:srgbClr val="B8D915"/>
          </a:solidFill>
          <a:ln w="19050">
            <a:solidFill>
              <a:srgbClr val="1D1D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27648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&amp; Database Validation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27648" y="29992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Postman on DummyJSON; 90 constraint checks on food_app/MySQL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0259568" y="3557016"/>
            <a:ext cx="201168" cy="201168"/>
          </a:xfrm>
          <a:prstGeom prst="ellipse">
            <a:avLst/>
          </a:prstGeom>
          <a:solidFill>
            <a:srgbClr val="B8D915"/>
          </a:solidFill>
          <a:ln w="19050">
            <a:solidFill>
              <a:srgbClr val="1D1D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71432" y="3913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71432" y="42428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&amp; Closure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71432" y="47731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Selenium regression suite, defect retesting, final reporting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6291072"/>
            <a:ext cx="11091672" cy="0"/>
          </a:xfrm>
          <a:prstGeom prst="line">
            <a:avLst/>
          </a:prstGeom>
          <a:noFill/>
          <a:ln w="9525">
            <a:solidFill>
              <a:srgbClr val="DCDE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TASTE &amp; TEST — DEPI QA PORTFOLIO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18001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04/11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[ 05 ] — PHASE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20" kern="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&amp; Exploratory Testing</a:t>
            </a:r>
            <a:endParaRPr lang="en-US" sz="3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493776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617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72% PASS RATE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0" y="17373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APPROACH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943600" y="202996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exploratory sessions on the live storefront, then structured scripted cases with clear preconditions, steps, and expected vs. actual results — tracked in a shared master workbook.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943600" y="28803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43600" y="317296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 sessions · Navigation · Product discovery · Cart &amp; checkout · Reviews &amp; ratings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43600" y="3794760"/>
            <a:ext cx="5669280" cy="1508760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11" name="Shape 8"/>
          <p:cNvSpPr/>
          <p:nvPr/>
        </p:nvSpPr>
        <p:spPr>
          <a:xfrm>
            <a:off x="6144768" y="3959352"/>
            <a:ext cx="100584" cy="100584"/>
          </a:xfrm>
          <a:prstGeom prst="ellipse">
            <a:avLst/>
          </a:prstGeom>
          <a:solidFill>
            <a:srgbClr val="D93B3B"/>
          </a:solidFill>
          <a:ln/>
        </p:spPr>
      </p:sp>
      <p:sp>
        <p:nvSpPr>
          <p:cNvPr id="12" name="Shape 9"/>
          <p:cNvSpPr/>
          <p:nvPr/>
        </p:nvSpPr>
        <p:spPr>
          <a:xfrm>
            <a:off x="6364224" y="3959352"/>
            <a:ext cx="100584" cy="100584"/>
          </a:xfrm>
          <a:prstGeom prst="ellipse">
            <a:avLst/>
          </a:prstGeom>
          <a:solidFill>
            <a:srgbClr val="D9A61F"/>
          </a:solidFill>
          <a:ln/>
        </p:spPr>
      </p:sp>
      <p:sp>
        <p:nvSpPr>
          <p:cNvPr id="13" name="Shape 10"/>
          <p:cNvSpPr/>
          <p:nvPr/>
        </p:nvSpPr>
        <p:spPr>
          <a:xfrm>
            <a:off x="6583680" y="3959352"/>
            <a:ext cx="100584" cy="100584"/>
          </a:xfrm>
          <a:prstGeom prst="ellipse">
            <a:avLst/>
          </a:prstGeom>
          <a:solidFill>
            <a:srgbClr val="2BA36A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4251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8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CRITICAL bug_report.log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17920" y="4572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8F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BUG-003: password accepts weak values —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17920" y="4892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8F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 checked (4-20) but complexity rules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217920" y="5212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8F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(upper/number/special) never enforced.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6291072"/>
            <a:ext cx="11091672" cy="0"/>
          </a:xfrm>
          <a:prstGeom prst="line">
            <a:avLst/>
          </a:prstGeom>
          <a:noFill/>
          <a:ln w="9525">
            <a:solidFill>
              <a:srgbClr val="DCDE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TASTE &amp; TEST — DEPI QA PORTFOLIO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18001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05/11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[ 06 ] — PHASE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20" kern="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Testing — food_app</a:t>
            </a:r>
            <a:endParaRPr lang="en-US" sz="3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493776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617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74% PASS RATE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0" y="17373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APPROACH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943600" y="2029968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8.0 schema (users, restaurants, orders, payments, coupons, deliveries...) seeded with deliberate edge cases, validated against CHECK constraints, foreign keys, uniqueness rules, and cross-table business logic.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43600" y="3063240"/>
            <a:ext cx="5669280" cy="2240280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9" name="Shape 6"/>
          <p:cNvSpPr/>
          <p:nvPr/>
        </p:nvSpPr>
        <p:spPr>
          <a:xfrm>
            <a:off x="6144768" y="3227832"/>
            <a:ext cx="100584" cy="100584"/>
          </a:xfrm>
          <a:prstGeom prst="ellipse">
            <a:avLst/>
          </a:prstGeom>
          <a:solidFill>
            <a:srgbClr val="D93B3B"/>
          </a:solidFill>
          <a:ln/>
        </p:spPr>
      </p:sp>
      <p:sp>
        <p:nvSpPr>
          <p:cNvPr id="10" name="Shape 7"/>
          <p:cNvSpPr/>
          <p:nvPr/>
        </p:nvSpPr>
        <p:spPr>
          <a:xfrm>
            <a:off x="6364224" y="3227832"/>
            <a:ext cx="100584" cy="100584"/>
          </a:xfrm>
          <a:prstGeom prst="ellipse">
            <a:avLst/>
          </a:prstGeom>
          <a:solidFill>
            <a:srgbClr val="D9A61F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0" y="3227832"/>
            <a:ext cx="100584" cy="100584"/>
          </a:xfrm>
          <a:prstGeom prst="ellipse">
            <a:avLst/>
          </a:prstGeom>
          <a:solidFill>
            <a:srgbClr val="2BA36A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0" y="3520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8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diff order.restaurant order_item.restaurant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217920" y="3840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  Order #17 (Burger Factory) contains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21792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8F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items belonging to Smash &amp; Grill —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17920" y="4480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8F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no FK ties order_item back to the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17920" y="4800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8F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order's own restaurant_id.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217920" y="5120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D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     Suspended users can still place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217920" y="5440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8F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new orders — no DB-level block.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6291072"/>
            <a:ext cx="11091672" cy="0"/>
          </a:xfrm>
          <a:prstGeom prst="line">
            <a:avLst/>
          </a:prstGeom>
          <a:noFill/>
          <a:ln w="9525">
            <a:solidFill>
              <a:srgbClr val="DCDE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TASTE &amp; TEST — DEPI QA PORTFOLIO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018001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06/11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[ 07 ] — PHASE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20" kern="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Testing — DummyJSON via Postman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Contract-level validation of a public REST API, run through Postman collections the team built and maintained.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&amp; Payloads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per resource — create, read, update, delete — with representative and boundary payloads.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005072" y="2834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D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297680" y="2331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97680" y="30175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Assertions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97680" y="352044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codes, response schema, and field-level values checked against the expected contract on every call.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54112" y="2834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D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046720" y="2331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046720" y="30175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&amp; Error Handling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46720" y="352044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and token flows exercised alongside negative cases — invalid input, missing fields, unauthorized access.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1091672" cy="0"/>
          </a:xfrm>
          <a:prstGeom prst="line">
            <a:avLst/>
          </a:prstGeom>
          <a:noFill/>
          <a:ln w="9525">
            <a:solidFill>
              <a:srgbClr val="DCDE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0749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Unique Endpoints Tested</a:t>
            </a:r>
          </a:p>
          <a:p>
            <a:pPr indent="0" marL="0">
              <a:buNone/>
            </a:pPr>
            <a:r>
              <a:rPr lang="en-US" sz="10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232 Test Cases Executed</a:t>
            </a:r>
          </a:p>
          <a:p>
            <a:pPr indent="0" marL="0">
              <a:buNone/>
            </a:pPr>
            <a:r>
              <a:rPr lang="en-US" sz="10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Bug Reports Logged</a:t>
            </a:r>
          </a:p>
          <a:p>
            <a:pPr indent="0" marL="0">
              <a:buNone/>
            </a:pPr>
            <a:r>
              <a:rPr lang="en-US" sz="10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Methods: GET, POST, PUT, PATCH, DELETE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6291072"/>
            <a:ext cx="11091672" cy="0"/>
          </a:xfrm>
          <a:prstGeom prst="line">
            <a:avLst/>
          </a:prstGeom>
          <a:noFill/>
          <a:ln w="9525">
            <a:solidFill>
              <a:srgbClr val="DCDE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TASTE &amp; TEST — DEPI QA PORTFOLIO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18001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07/11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[ 08 ] — PHASE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20" kern="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Regression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manual scenarios on the LambdaTest storefront, rebuilt as repeatable Selenium WebDriver scripts in Java.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6035040" cy="0"/>
          </a:xfrm>
          <a:prstGeom prst="line">
            <a:avLst/>
          </a:prstGeom>
          <a:noFill/>
          <a:ln w="15875">
            <a:solidFill>
              <a:srgbClr val="1D1D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414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0" y="24414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6035040" cy="0"/>
          </a:xfrm>
          <a:prstGeom prst="line">
            <a:avLst/>
          </a:prstGeom>
          <a:noFill/>
          <a:ln w="9525">
            <a:solidFill>
              <a:srgbClr val="DCDE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443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0" y="29443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Selenium WebDriver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6035040" cy="0"/>
          </a:xfrm>
          <a:prstGeom prst="line">
            <a:avLst/>
          </a:prstGeom>
          <a:noFill/>
          <a:ln w="9525">
            <a:solidFill>
              <a:srgbClr val="DCDE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472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0" y="3447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IntelliJ IDEA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6035040" cy="0"/>
          </a:xfrm>
          <a:prstGeom prst="line">
            <a:avLst/>
          </a:prstGeom>
          <a:noFill/>
          <a:ln w="9525">
            <a:solidFill>
              <a:srgbClr val="DCDE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502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3200" y="39502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LambdaTest E-Commerce Playground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6035040" cy="0"/>
          </a:xfrm>
          <a:prstGeom prst="line">
            <a:avLst/>
          </a:prstGeom>
          <a:noFill/>
          <a:ln w="9525">
            <a:solidFill>
              <a:srgbClr val="DCDE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4531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CONTROL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0" y="44531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repository, maintained through every sprint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6035040" cy="0"/>
          </a:xfrm>
          <a:prstGeom prst="line">
            <a:avLst/>
          </a:prstGeom>
          <a:noFill/>
          <a:ln w="9525">
            <a:solidFill>
              <a:srgbClr val="DCDE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2331720"/>
            <a:ext cx="4663440" cy="2834640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22" name="Shape 20"/>
          <p:cNvSpPr/>
          <p:nvPr/>
        </p:nvSpPr>
        <p:spPr>
          <a:xfrm>
            <a:off x="7150608" y="2496312"/>
            <a:ext cx="100584" cy="100584"/>
          </a:xfrm>
          <a:prstGeom prst="ellipse">
            <a:avLst/>
          </a:prstGeom>
          <a:solidFill>
            <a:srgbClr val="D93B3B"/>
          </a:solidFill>
          <a:ln/>
        </p:spPr>
      </p:sp>
      <p:sp>
        <p:nvSpPr>
          <p:cNvPr id="23" name="Shape 21"/>
          <p:cNvSpPr/>
          <p:nvPr/>
        </p:nvSpPr>
        <p:spPr>
          <a:xfrm>
            <a:off x="7370064" y="2496312"/>
            <a:ext cx="100584" cy="100584"/>
          </a:xfrm>
          <a:prstGeom prst="ellipse">
            <a:avLst/>
          </a:prstGeom>
          <a:solidFill>
            <a:srgbClr val="D9A61F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0" y="2496312"/>
            <a:ext cx="100584" cy="100584"/>
          </a:xfrm>
          <a:prstGeom prst="ellipse">
            <a:avLst/>
          </a:prstGeom>
          <a:solidFill>
            <a:srgbClr val="2BA36A"/>
          </a:solidFill>
          <a:ln/>
        </p:spPr>
      </p:sp>
      <p:sp>
        <p:nvSpPr>
          <p:cNvPr id="25" name="Text 23"/>
          <p:cNvSpPr/>
          <p:nvPr/>
        </p:nvSpPr>
        <p:spPr>
          <a:xfrm>
            <a:off x="7223760" y="2788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8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automated_flows/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223760" y="310896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F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01_authentication.java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223760" y="343814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F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02_navigation.java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223760" y="376732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F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03_product_discovery.java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223760" y="409651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F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04_cart_checkout.java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223760" y="442569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B8D9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mirrors the manual regression scope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6291072"/>
            <a:ext cx="11091672" cy="0"/>
          </a:xfrm>
          <a:prstGeom prst="line">
            <a:avLst/>
          </a:prstGeom>
          <a:noFill/>
          <a:ln w="9525">
            <a:solidFill>
              <a:srgbClr val="DCDE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TASTE &amp; TEST — DEPI QA PORTFOLIO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18001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08/11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[ 09 ] —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20" kern="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Log — A Sample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092440" y="777240"/>
            <a:ext cx="95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D9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092440" y="1353312"/>
            <a:ext cx="9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BUGS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391376" y="777240"/>
            <a:ext cx="95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D9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391376" y="1353312"/>
            <a:ext cx="9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BUGS</a:t>
            </a:r>
            <a:endParaRPr lang="en-US" sz="850" dirty="0"/>
          </a:p>
        </p:txBody>
      </p:sp>
      <p:sp>
        <p:nvSpPr>
          <p:cNvPr id="19" name="Text API Bugs Num"/>
          <p:cNvSpPr/>
          <p:nvPr/>
        </p:nvSpPr>
        <p:spPr>
          <a:xfrm>
            <a:off x="10690312" y="777240"/>
            <a:ext cx="95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D9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2800" dirty="0"/>
          </a:p>
        </p:txBody>
      </p:sp>
      <p:sp>
        <p:nvSpPr>
          <p:cNvPr id="20" name="Text API Bugs Label"/>
          <p:cNvSpPr/>
          <p:nvPr/>
        </p:nvSpPr>
        <p:spPr>
          <a:xfrm>
            <a:off x="10690312" y="1353312"/>
            <a:ext cx="9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BUGS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2880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0" y="19659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921240" y="19659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10204704" cy="0"/>
          </a:xfrm>
          <a:prstGeom prst="line">
            <a:avLst/>
          </a:prstGeom>
          <a:noFill/>
          <a:ln w="15875">
            <a:solidFill>
              <a:srgbClr val="1D1D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414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BUG-009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28800" y="24414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00400" y="244144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items reference a different restaurant than the order itself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921240" y="24414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898648"/>
            <a:ext cx="10204704" cy="0"/>
          </a:xfrm>
          <a:prstGeom prst="line">
            <a:avLst/>
          </a:prstGeom>
          <a:noFill/>
          <a:ln w="6350">
            <a:solidFill>
              <a:srgbClr val="DCDE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986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BUG-003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28800" y="28986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/ Auth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0400" y="289864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field accepts weak values — complexity rules not enforced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921240" y="28986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355848"/>
            <a:ext cx="10204704" cy="0"/>
          </a:xfrm>
          <a:prstGeom prst="line">
            <a:avLst/>
          </a:prstGeom>
          <a:noFill/>
          <a:ln w="6350">
            <a:solidFill>
              <a:srgbClr val="DCDE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3558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BUG-007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828800" y="33558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00400" y="335584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Suspended user accounts can still place new orders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921240" y="33558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7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813048"/>
            <a:ext cx="10204704" cy="0"/>
          </a:xfrm>
          <a:prstGeom prst="line">
            <a:avLst/>
          </a:prstGeom>
          <a:noFill/>
          <a:ln w="6350">
            <a:solidFill>
              <a:srgbClr val="DCDE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8130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BUG_NAV_002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828800" y="38130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/ Nav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00400" y="381304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a category displays products from a different category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921240" y="38130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7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270248"/>
            <a:ext cx="10204704" cy="0"/>
          </a:xfrm>
          <a:prstGeom prst="line">
            <a:avLst/>
          </a:prstGeom>
          <a:noFill/>
          <a:ln w="6350">
            <a:solidFill>
              <a:srgbClr val="DCDE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2702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BUG-016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828800" y="42702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00400" y="427024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 shows active after its expiry date has passed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921240" y="42702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8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4727448"/>
            <a:ext cx="10204704" cy="0"/>
          </a:xfrm>
          <a:prstGeom prst="line">
            <a:avLst/>
          </a:prstGeom>
          <a:noFill/>
          <a:ln w="6350">
            <a:solidFill>
              <a:srgbClr val="DCDE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7274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BUG_NAV_001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828800" y="47274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/ Nav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200400" y="472744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Menu click redirects to About Us instead of category list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921240" y="47274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8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5184648"/>
            <a:ext cx="10204704" cy="0"/>
          </a:xfrm>
          <a:prstGeom prst="line">
            <a:avLst/>
          </a:prstGeom>
          <a:noFill/>
          <a:ln w="6350">
            <a:solidFill>
              <a:srgbClr val="DCDE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6291072"/>
            <a:ext cx="11091672" cy="0"/>
          </a:xfrm>
          <a:prstGeom prst="line">
            <a:avLst/>
          </a:prstGeom>
          <a:noFill/>
          <a:ln w="9525">
            <a:solidFill>
              <a:srgbClr val="DCDE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TASTE &amp; TEST — DEPI QA PORTFOLIO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18001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09/11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[ 10 ] —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20" kern="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Summary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pass/fail metrics across the three finalized testing layers.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66751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589520" y="20116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72.2%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89520" y="2468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MANUAL PASS RATE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589520" y="2880360"/>
            <a:ext cx="4023360" cy="0"/>
          </a:xfrm>
          <a:prstGeom prst="line">
            <a:avLst/>
          </a:prstGeom>
          <a:noFill/>
          <a:ln w="9525">
            <a:solidFill>
              <a:srgbClr val="DCDE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30175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74.4%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589520" y="3474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 PASS RATE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589520" y="3886200"/>
            <a:ext cx="4023360" cy="0"/>
          </a:xfrm>
          <a:prstGeom prst="line">
            <a:avLst/>
          </a:prstGeom>
          <a:noFill/>
          <a:ln w="9525">
            <a:solidFill>
              <a:srgbClr val="DCDEE1"/>
            </a:solidFill>
            <a:prstDash val="solid"/>
          </a:ln>
        </p:spPr>
      </p:sp>
      <p:sp>
        <p:nvSpPr>
          <p:cNvPr id="21" name="Text API Rate Num"/>
          <p:cNvSpPr/>
          <p:nvPr/>
        </p:nvSpPr>
        <p:spPr>
          <a:xfrm>
            <a:off x="7589520" y="40233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9A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83.2%</a:t>
            </a:r>
            <a:endParaRPr lang="en-US" sz="2200" dirty="0"/>
          </a:p>
        </p:txBody>
      </p:sp>
      <p:sp>
        <p:nvSpPr>
          <p:cNvPr id="22" name="Text API Rate Label"/>
          <p:cNvSpPr/>
          <p:nvPr/>
        </p:nvSpPr>
        <p:spPr>
          <a:xfrm>
            <a:off x="7589520" y="4526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PASS RATE</a:t>
            </a:r>
            <a:endParaRPr lang="en-US" sz="900" dirty="0"/>
          </a:p>
        </p:txBody>
      </p:sp>
      <p:sp>
        <p:nvSpPr>
          <p:cNvPr id="23" name="Shape API Divider"/>
          <p:cNvSpPr/>
          <p:nvPr/>
        </p:nvSpPr>
        <p:spPr>
          <a:xfrm>
            <a:off x="7589520" y="4800600"/>
            <a:ext cx="4023360" cy="0"/>
          </a:xfrm>
          <a:prstGeom prst="line">
            <a:avLst/>
          </a:prstGeom>
          <a:noFill/>
          <a:ln w="9525">
            <a:solidFill>
              <a:srgbClr val="DCDE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0" y="4937760"/>
            <a:ext cx="402336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testing was completed using Postman on the DummyJSON REST API, covering 10 unique endpoints across 232 test cases with 34 documented bug reports.</a:t>
            </a:r>
          </a:p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E7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testing was completed using Selenium WebDriver with Java, covering the core user workflows identified during manual testing.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6291072"/>
            <a:ext cx="11091672" cy="0"/>
          </a:xfrm>
          <a:prstGeom prst="line">
            <a:avLst/>
          </a:prstGeom>
          <a:noFill/>
          <a:ln w="9525">
            <a:solidFill>
              <a:srgbClr val="DCDE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TASTE &amp; TEST — DEPI QA PORTFOLIO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018001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10/11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D9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ORAL DEFENSE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&amp; Q&amp;A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B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Taste &amp; Test — DEPI Software Testing Graduation Project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5212080" cy="2606040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3364992"/>
            <a:ext cx="100584" cy="100584"/>
          </a:xfrm>
          <a:prstGeom prst="ellipse">
            <a:avLst/>
          </a:prstGeom>
          <a:solidFill>
            <a:srgbClr val="D93B3B"/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" y="3364992"/>
            <a:ext cx="100584" cy="100584"/>
          </a:xfrm>
          <a:prstGeom prst="ellipse">
            <a:avLst/>
          </a:prstGeom>
          <a:solidFill>
            <a:srgbClr val="D9A61F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3364992"/>
            <a:ext cx="100584" cy="100584"/>
          </a:xfrm>
          <a:prstGeom prst="ellipse">
            <a:avLst/>
          </a:prstGeom>
          <a:solidFill>
            <a:srgbClr val="2BA36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6576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project --summary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F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498 test cases executed across manual,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4343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F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database, and API testing — plus a full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4709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F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Selenium automation suite.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5074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F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Delivered by a 6-person Agile QA team over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5440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F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sprints.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3200400"/>
            <a:ext cx="5394960" cy="2606040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16" name="Shape 14"/>
          <p:cNvSpPr/>
          <p:nvPr/>
        </p:nvSpPr>
        <p:spPr>
          <a:xfrm>
            <a:off x="6373368" y="3364992"/>
            <a:ext cx="100584" cy="100584"/>
          </a:xfrm>
          <a:prstGeom prst="ellipse">
            <a:avLst/>
          </a:prstGeom>
          <a:solidFill>
            <a:srgbClr val="D93B3B"/>
          </a:solidFill>
          <a:ln/>
        </p:spPr>
      </p:sp>
      <p:sp>
        <p:nvSpPr>
          <p:cNvPr id="17" name="Shape 15"/>
          <p:cNvSpPr/>
          <p:nvPr/>
        </p:nvSpPr>
        <p:spPr>
          <a:xfrm>
            <a:off x="6592824" y="3364992"/>
            <a:ext cx="100584" cy="100584"/>
          </a:xfrm>
          <a:prstGeom prst="ellipse">
            <a:avLst/>
          </a:prstGeom>
          <a:solidFill>
            <a:srgbClr val="D9A61F"/>
          </a:solidFill>
          <a:ln/>
        </p:spPr>
      </p:sp>
      <p:sp>
        <p:nvSpPr>
          <p:cNvPr id="18" name="Shape 16"/>
          <p:cNvSpPr/>
          <p:nvPr/>
        </p:nvSpPr>
        <p:spPr>
          <a:xfrm>
            <a:off x="6812280" y="3364992"/>
            <a:ext cx="100584" cy="100584"/>
          </a:xfrm>
          <a:prstGeom prst="ellipse">
            <a:avLst/>
          </a:prstGeom>
          <a:solidFill>
            <a:srgbClr val="2BA36A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3657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8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project --thanks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F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Ministry of Communications &amp; Information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46520" y="4343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F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Technology, the DEPI program team, and our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46520" y="4709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F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mentors.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46520" y="5074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B8D9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awaiting committee questions_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6291072"/>
            <a:ext cx="11091672" cy="0"/>
          </a:xfrm>
          <a:prstGeom prst="line">
            <a:avLst/>
          </a:prstGeom>
          <a:noFill/>
          <a:ln w="9525">
            <a:solidFill>
              <a:srgbClr val="DCDE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TASTE &amp; TEST — DEPI QA PORTFOLIO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18001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11/11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2026-07-09T23:51:33Z</dcterms:created>
  <dcterms:modified xsi:type="dcterms:W3CDTF">2026-07-09T23:51:33Z</dcterms:modified>
</cp:coreProperties>
</file>